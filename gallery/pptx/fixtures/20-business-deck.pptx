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ctrTitle" idx="0"/>
          </p:nvPr>
        </p:nvSpPr>
        <p:spPr>
          <a:xfrm>
            <a:off x="914400" y="2286000"/>
            <a:ext cx="10363200" cy="1371600"/>
          </a:xfrm>
          <a:prstGeom prst="rect">
            <a:avLst/>
          </a:prstGeom>
          <a:noFill/>
        </p:spPr>
        <p:txBody>
          <a:bodyPr wrap="square" lIns="91440" tIns="91440" rIns="91440" bIns="91440" anchor="ctr"/>
          <a:lstStyle>
            <a:lvl1pPr algn="ctr">
              <a:defRPr sz="4800">
                <a:solidFill>
                  <a:schemeClr val="lt1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  <p:sp>
        <p:nvSpPr>
          <p:cNvPr id="3" name="Subtitle"/>
          <p:cNvSpPr txBox="1"/>
          <p:nvPr>
            <p:ph type="subTitle" idx="1"/>
          </p:nvPr>
        </p:nvSpPr>
        <p:spPr>
          <a:xfrm>
            <a:off x="1371600" y="3886200"/>
            <a:ext cx="9448800" cy="9144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>
            <a:lvl1pPr algn="ctr">
              <a:defRPr sz="2400">
                <a:solidFill>
                  <a:schemeClr val="lt2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Content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 idx="0"/>
          </p:nvPr>
        </p:nvSpPr>
        <p:spPr>
          <a:xfrm>
            <a:off x="685800" y="914400"/>
            <a:ext cx="10820400" cy="9144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>
            <a:lvl1pPr algn="l">
              <a:defRPr sz="3600">
                <a:solidFill>
                  <a:schemeClr val="dk1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  <p:sp>
        <p:nvSpPr>
          <p:cNvPr id="3" name="Body"/>
          <p:cNvSpPr txBox="1"/>
          <p:nvPr>
            <p:ph type="body" idx="1"/>
          </p:nvPr>
        </p:nvSpPr>
        <p:spPr>
          <a:xfrm>
            <a:off x="685800" y="2057400"/>
            <a:ext cx="6858000" cy="3657600"/>
          </a:xfrm>
          <a:prstGeom prst="rect">
            <a:avLst/>
          </a:prstGeom>
          <a:noFill/>
        </p:spPr>
        <p:txBody>
          <a:bodyPr wrap="square" lIns="91440" tIns="91440" rIns="91440" bIns="91440" anchor="t"/>
          <a:lstStyle>
            <a:lvl1pPr algn="l">
              <a:defRPr sz="2200">
                <a:solidFill>
                  <a:schemeClr val="dk2"/>
                </a:solidFill>
                <a:latin typeface="Calibri"/>
              </a:defRPr>
            </a:lvl1pPr>
          </a:lstStyle>
          <a:p>
            <a:pPr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  <Relationship Id="rId3" Type="http://schemas.openxmlformats.org/officeDocument/2006/relationships/slideLayout" Target="../slideLayouts/slideLayout2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D47A1"/>
          </a:solidFill>
          <a:ln w="12700">
            <a:solidFill>
              <a:srgbClr val="223344"/>
            </a:solidFill>
          </a:ln>
        </p:spPr>
      </p:sp>
      <p:sp>
        <p:nvSpPr>
          <p:cNvPr id="11" name="FooterBar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223344"/>
            </a:solidFill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logo.png"/>
  <Relationship Id="rId3" Type="http://schemas.openxmlformats.org/officeDocument/2006/relationships/image" Target="../media/photo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ctrTitle" idx="0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ctr"/>
            <a:r>
              <a:rPr lang="en-US" sz="3200" dirty="0">
                <a:solidFill>
                  <a:schemeClr val="lt1"/>
                </a:solidFill>
                <a:latin typeface="Calibri"/>
              </a:rPr>
              <a:t xml:space="preserve">Northwind Quarterly Review</a:t>
            </a:r>
          </a:p>
        </p:txBody>
      </p:sp>
      <p:sp>
        <p:nvSpPr>
          <p:cNvPr id="3" name="Subtitle"/>
          <p:cNvSpPr txBox="1"/>
          <p:nvPr>
            <p:ph type="subTitle" idx="1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ctr"/>
            <a:r>
              <a:rPr lang="en-US" sz="3200" dirty="0">
                <a:solidFill>
                  <a:schemeClr val="lt2"/>
                </a:solidFill>
                <a:latin typeface="Calibri"/>
              </a:rPr>
              <a:t xml:space="preserve">FY2026 - Customer Success &amp;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 idx="0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Agenda</a:t>
            </a:r>
          </a:p>
        </p:txBody>
      </p:sp>
      <p:sp>
        <p:nvSpPr>
          <p:cNvPr id="3" name="Body"/>
          <p:cNvSpPr txBox="1"/>
          <p:nvPr>
            <p:ph type="body" idx="1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3200" dirty="0">
                <a:solidFill>
                  <a:schemeClr val="dk2"/>
                </a:solidFill>
                <a:latin typeface="Calibri"/>
              </a:rPr>
              <a:t xml:space="preserve">1. Highlights
2. Product snapshot
3. Next steps</a:t>
            </a:r>
          </a:p>
        </p:txBody>
      </p:sp>
      <p:sp>
        <p:nvSpPr>
          <p:cNvPr id="4" name="Card"/>
          <p:cNvSpPr/>
          <p:nvPr/>
        </p:nvSpPr>
        <p:spPr>
          <a:xfrm>
            <a:off x="8229600" y="2286000"/>
            <a:ext cx="2743200" cy="2743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23344"/>
            </a:solidFill>
          </a:ln>
        </p:spPr>
      </p:sp>
      <p:sp>
        <p:nvSpPr>
          <p:cNvPr id="5" name="CardText"/>
          <p:cNvSpPr txBox="1"/>
          <p:nvPr/>
        </p:nvSpPr>
        <p:spPr>
          <a:xfrm>
            <a:off x="8458200" y="2743200"/>
            <a:ext cx="2286000" cy="13716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Calibri"/>
              </a:rPr>
              <a:t xml:space="preserve">5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 idx="0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Product snapshot</a:t>
            </a:r>
          </a:p>
        </p:txBody>
      </p:sp>
      <p:pic>
        <p:nvPicPr>
          <p:cNvPr id="3" name="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2743200" cy="2743200"/>
          </a:xfrm>
          <a:prstGeom prst="rect">
            <a:avLst/>
          </a:prstGeom>
        </p:spPr>
      </p:pic>
      <p:pic>
        <p:nvPicPr>
          <p:cNvPr id="4" name="ChartImg"/>
          <p:cNvPicPr/>
          <p:nvPr/>
        </p:nvPicPr>
        <p:blipFill>
          <a:blip r:embed="rId3"/>
          <a:stretch>
            <a:fillRect/>
          </a:stretch>
        </p:blipFill>
        <p:spPr>
          <a:xfrm>
            <a:off x="4114800" y="2286000"/>
            <a:ext cx="4114800" cy="27432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685800" y="5257800"/>
            <a:ext cx="75438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1600" dirty="0">
                <a:solidFill>
                  <a:schemeClr val="dk2"/>
                </a:solidFill>
                <a:latin typeface="Calibri"/>
              </a:rPr>
              <a:t xml:space="preserve">Brand mark + photo assets from package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 idx="0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l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Shape language</a:t>
            </a:r>
          </a:p>
        </p:txBody>
      </p:sp>
      <p:grpSp>
        <p:nvGrpSpPr>
          <p:cNvPr id="20" name="Metrics"/>
          <p:cNvGrpSpPr/>
          <p:nvPr/>
        </p:nvGrpSpPr>
        <p:grpSpPr>
          <a:xfrm>
            <a:off x="914400" y="2286000"/>
            <a:ext cx="10363200" cy="2743200"/>
            <a:chOff x="0" y="0"/>
            <a:chExt cx="10363200" cy="2743200"/>
          </a:xfrm>
        </p:grpSpPr>
        <p:sp>
          <p:nvSpPr>
            <p:cNvPr id="21" name="M1"/>
            <p:cNvSpPr/>
            <p:nvPr/>
          </p:nvSpPr>
          <p:spPr>
            <a:xfrm>
              <a:off x="0" y="0"/>
              <a:ext cx="2743200" cy="1828800"/>
            </a:xfrm>
            <a:prstGeom prst="roundRect">
              <a:avLst/>
            </a:prstGeom>
            <a:solidFill>
              <a:srgbClr val="1976D2"/>
            </a:solidFill>
            <a:ln w="12700">
              <a:solidFill>
                <a:srgbClr val="223344"/>
              </a:solidFill>
            </a:ln>
          </p:spPr>
        </p:sp>
        <p:sp>
          <p:nvSpPr>
            <p:cNvPr id="22" name="M2"/>
            <p:cNvSpPr/>
            <p:nvPr/>
          </p:nvSpPr>
          <p:spPr>
            <a:xfrm>
              <a:off x="3429000" y="457200"/>
              <a:ext cx="2743200" cy="1828800"/>
            </a:xfrm>
            <a:prstGeom prst="ellipse">
              <a:avLst/>
            </a:prstGeom>
            <a:solidFill>
              <a:srgbClr val="00897B"/>
            </a:solidFill>
            <a:ln w="12700">
              <a:solidFill>
                <a:srgbClr val="223344"/>
              </a:solidFill>
            </a:ln>
          </p:spPr>
        </p:sp>
        <p:sp>
          <p:nvSpPr>
            <p:cNvPr id="23" name="M3"/>
            <p:cNvSpPr/>
            <p:nvPr/>
          </p:nvSpPr>
          <p:spPr>
            <a:xfrm>
              <a:off x="6858000" y="0"/>
              <a:ext cx="2743200" cy="1828800"/>
            </a:xfrm>
            <a:prstGeom prst="chevron">
              <a:avLst/>
            </a:prstGeom>
            <a:solidFill>
              <a:srgbClr val="F9A825"/>
            </a:solidFill>
            <a:ln w="12700">
              <a:solidFill>
                <a:srgbClr val="223344"/>
              </a:solidFill>
            </a:ln>
          </p:spPr>
        </p:sp>
      </p:grpSp>
      <p:sp>
        <p:nvSpPr>
          <p:cNvPr id="3" name="Legend"/>
          <p:cNvSpPr txBox="1"/>
          <p:nvPr/>
        </p:nvSpPr>
        <p:spPr>
          <a:xfrm>
            <a:off x="914400" y="5257800"/>
            <a:ext cx="103632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1800" dirty="0">
                <a:solidFill>
                  <a:schemeClr val="dk2"/>
                </a:solidFill>
                <a:latin typeface="Calibri"/>
              </a:rPr>
              <a:t xml:space="preserve">Pipeline </a:t>
            </a:r>
            <a:r>
              <a:rPr lang="en-US" sz="1800" b="1" dirty="0">
                <a:solidFill>
                  <a:schemeClr val="accent6"/>
                </a:solidFill>
                <a:latin typeface="Calibri"/>
              </a:rPr>
              <a:t xml:space="preserve">↑ 18%</a:t>
            </a:r>
            <a:r>
              <a:rPr lang="en-US" sz="1800" dirty="0">
                <a:solidFill>
                  <a:schemeClr val="dk2"/>
                </a:solidFill>
                <a:latin typeface="Calibri"/>
              </a:rPr>
              <a:t xml:space="preserve"> / Retention </a:t>
            </a:r>
            <a:r>
              <a:rPr lang="en-US" sz="1800" b="1" dirty="0">
                <a:solidFill>
                  <a:schemeClr val="accent1"/>
                </a:solidFill>
                <a:latin typeface="Calibri"/>
              </a:rPr>
              <a:t xml:space="preserve">92%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>
            <p:ph type="title" idx="0"/>
          </p:nvPr>
        </p:nvSpPr>
        <p:spPr>
          <a:prstGeom prst="rect">
            <a:avLst/>
          </a:prstGeom>
          <a:noFill/>
        </p:spPr>
        <p:txBody>
          <a:bodyPr wrap="square" lIns="91440" tIns="91440" rIns="91440" bIns="91440" anchor="t"/>
          <a:lstStyle/>
          <a:p>
            <a:pPr algn="ctr"/>
            <a:r>
              <a:rPr lang="en-US" sz="3200" dirty="0">
                <a:solidFill>
                  <a:schemeClr val="dk1"/>
                </a:solidFill>
                <a:latin typeface="Calibri"/>
              </a:rPr>
              <a:t xml:space="preserve">Thank you</a:t>
            </a:r>
          </a:p>
        </p:txBody>
      </p:sp>
      <p:sp>
        <p:nvSpPr>
          <p:cNvPr id="3" name="Contact"/>
          <p:cNvSpPr txBox="1"/>
          <p:nvPr/>
        </p:nvSpPr>
        <p:spPr>
          <a:xfrm>
            <a:off x="1371600" y="2971800"/>
            <a:ext cx="9448800" cy="13716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2200" dirty="0">
                <a:solidFill>
                  <a:schemeClr val="accent1"/>
                </a:solidFill>
                <a:latin typeface="Calibri"/>
              </a:rPr>
              <a:t xml:space="preserve">questions@northwind.example - Continue the conversation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